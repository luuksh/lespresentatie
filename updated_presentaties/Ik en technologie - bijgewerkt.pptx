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75" r:id="rId6"/>
    <p:sldId id="277" r:id="rId7"/>
    <p:sldId id="267" r:id="rId8"/>
    <p:sldId id="276" r:id="rId9"/>
    <p:sldId id="268" r:id="rId10"/>
    <p:sldId id="265" r:id="rId11"/>
    <p:sldId id="279" r:id="rId12"/>
    <p:sldId id="257" r:id="rId13"/>
    <p:sldId id="258" r:id="rId14"/>
    <p:sldId id="270" r:id="rId15"/>
    <p:sldId id="264" r:id="rId16"/>
    <p:sldId id="259" r:id="rId17"/>
    <p:sldId id="271" r:id="rId18"/>
    <p:sldId id="260" r:id="rId19"/>
    <p:sldId id="273" r:id="rId20"/>
    <p:sldId id="274" r:id="rId21"/>
    <p:sldId id="280" r:id="rId22"/>
    <p:sldId id="262" r:id="rId23"/>
    <p:sldId id="263" r:id="rId24"/>
    <p:sldId id="281" r:id="rId30"/>
    <p:sldId id="282" r:id="rId31"/>
    <p:sldId id="283" r:id="rId32"/>
    <p:sldId id="284" r:id="rId33"/>
    <p:sldId id="285" r:id="rId34"/>
    <p:sldId id="286" r:id="rId3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741"/>
  </p:normalViewPr>
  <p:slideViewPr>
    <p:cSldViewPr snapToGrid="0">
      <p:cViewPr varScale="1">
        <p:scale>
          <a:sx n="114" d="100"/>
          <a:sy n="114" d="100"/>
        </p:scale>
        <p:origin x="4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erieke Leever" userId="d79a77a8-3e50-4e70-935e-4be851c0e404" providerId="ADAL" clId="{A689C9DE-CB3C-5D6C-80DF-AD4A33265FA7}"/>
    <pc:docChg chg="custSel addSld delSld modSld">
      <pc:chgData name="Frederieke Leever" userId="d79a77a8-3e50-4e70-935e-4be851c0e404" providerId="ADAL" clId="{A689C9DE-CB3C-5D6C-80DF-AD4A33265FA7}" dt="2025-10-26T09:44:27.472" v="24" actId="680"/>
      <pc:docMkLst>
        <pc:docMk/>
      </pc:docMkLst>
      <pc:sldChg chg="addSp modSp mod modAnim">
        <pc:chgData name="Frederieke Leever" userId="d79a77a8-3e50-4e70-935e-4be851c0e404" providerId="ADAL" clId="{A689C9DE-CB3C-5D6C-80DF-AD4A33265FA7}" dt="2025-10-07T06:43:49.900" v="22"/>
        <pc:sldMkLst>
          <pc:docMk/>
          <pc:sldMk cId="1560451031" sldId="265"/>
        </pc:sldMkLst>
        <pc:spChg chg="add mod">
          <ac:chgData name="Frederieke Leever" userId="d79a77a8-3e50-4e70-935e-4be851c0e404" providerId="ADAL" clId="{A689C9DE-CB3C-5D6C-80DF-AD4A33265FA7}" dt="2025-10-07T06:41:43.372" v="2" actId="1076"/>
          <ac:spMkLst>
            <pc:docMk/>
            <pc:sldMk cId="1560451031" sldId="265"/>
            <ac:spMk id="3" creationId="{0DFCB3E7-32EE-89B7-84DD-3BA167930227}"/>
          </ac:spMkLst>
        </pc:spChg>
        <pc:spChg chg="add mod">
          <ac:chgData name="Frederieke Leever" userId="d79a77a8-3e50-4e70-935e-4be851c0e404" providerId="ADAL" clId="{A689C9DE-CB3C-5D6C-80DF-AD4A33265FA7}" dt="2025-10-07T06:42:04.267" v="4" actId="13822"/>
          <ac:spMkLst>
            <pc:docMk/>
            <pc:sldMk cId="1560451031" sldId="265"/>
            <ac:spMk id="5" creationId="{75FEEF50-B718-BCD1-5145-7388D427832D}"/>
          </ac:spMkLst>
        </pc:spChg>
      </pc:sldChg>
      <pc:sldChg chg="modAnim">
        <pc:chgData name="Frederieke Leever" userId="d79a77a8-3e50-4e70-935e-4be851c0e404" providerId="ADAL" clId="{A689C9DE-CB3C-5D6C-80DF-AD4A33265FA7}" dt="2025-10-07T06:43:18.783" v="14"/>
        <pc:sldMkLst>
          <pc:docMk/>
          <pc:sldMk cId="38446559" sldId="268"/>
        </pc:sldMkLst>
      </pc:sldChg>
      <pc:sldChg chg="new del">
        <pc:chgData name="Frederieke Leever" userId="d79a77a8-3e50-4e70-935e-4be851c0e404" providerId="ADAL" clId="{A689C9DE-CB3C-5D6C-80DF-AD4A33265FA7}" dt="2025-10-07T06:43:42.272" v="18" actId="2696"/>
        <pc:sldMkLst>
          <pc:docMk/>
          <pc:sldMk cId="1256223507" sldId="278"/>
        </pc:sldMkLst>
      </pc:sldChg>
      <pc:sldChg chg="delSp add mod delAnim modAnim">
        <pc:chgData name="Frederieke Leever" userId="d79a77a8-3e50-4e70-935e-4be851c0e404" providerId="ADAL" clId="{A689C9DE-CB3C-5D6C-80DF-AD4A33265FA7}" dt="2025-10-07T06:43:58.383" v="23"/>
        <pc:sldMkLst>
          <pc:docMk/>
          <pc:sldMk cId="121416714" sldId="279"/>
        </pc:sldMkLst>
      </pc:sldChg>
      <pc:sldChg chg="new">
        <pc:chgData name="Frederieke Leever" userId="d79a77a8-3e50-4e70-935e-4be851c0e404" providerId="ADAL" clId="{A689C9DE-CB3C-5D6C-80DF-AD4A33265FA7}" dt="2025-10-26T09:44:27.472" v="24" actId="680"/>
        <pc:sldMkLst>
          <pc:docMk/>
          <pc:sldMk cId="915144935"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A81B5A-2C21-0DF9-05E2-42B1FE2E968A}"/>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827DC028-C013-A58F-4490-72A669C26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CDA2BB47-35AD-16F2-C07D-5680B19FA5D4}"/>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13252E2B-206D-E28E-E3D5-311E177EF6C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9750249-492F-32ED-A710-513BE29B42B7}"/>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333011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3CD5CF-0722-57A3-B31D-FAEB012A7A5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C822C9D9-396D-68FC-699D-22E8BB9FF3F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A99ED19C-3A63-CB28-07E4-F26A5E9037AF}"/>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6A914591-0DCA-96B9-A983-3C12D084E5C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44FBD85-B0C2-3BCE-90A2-C3CAD889531D}"/>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2276397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B3DEBD-4B68-EF7D-DCFA-61FE72372FDC}"/>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4DE2961C-F7DB-53FD-FBF9-163DA0B13E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B9A4534-8476-8F7E-0028-D0F8D45A51B0}"/>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2D6C2A2B-23E9-A0AF-340B-1480DD47CB7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7A93411-53E6-5A5A-1A8F-E42A9095BE65}"/>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314598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090D2E-374A-CBC7-C414-8BF2FF77D57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451208B5-94D6-3980-29D4-609BF630CD22}"/>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EC6033F5-5342-041E-6A86-1159E3DBCB43}"/>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07D2C95E-4F34-567B-8714-8F152189E55C}"/>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6" name="Tijdelijke aanduiding voor voettekst 5">
            <a:extLst>
              <a:ext uri="{FF2B5EF4-FFF2-40B4-BE49-F238E27FC236}">
                <a16:creationId xmlns:a16="http://schemas.microsoft.com/office/drawing/2014/main" id="{828058B9-F33E-65F7-75D2-D9583644453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E9C8E00E-5F24-83AF-F59B-ABDCA5E8BFA6}"/>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2797996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A9F5F7-C372-635B-EA19-C79BC65B2D13}"/>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233DADA5-2F76-6883-411C-DF23AE322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F92A3D7E-B825-C874-B0D9-7B00805C7F05}"/>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24E930E0-B8C6-5AF1-6A11-CF38D2528A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D42A4FBB-D971-8866-07D0-39AAEC97C50B}"/>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11B31106-A87D-F5D2-02CE-46C0621AE7D4}"/>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8" name="Tijdelijke aanduiding voor voettekst 7">
            <a:extLst>
              <a:ext uri="{FF2B5EF4-FFF2-40B4-BE49-F238E27FC236}">
                <a16:creationId xmlns:a16="http://schemas.microsoft.com/office/drawing/2014/main" id="{39B2D590-6FF4-AE58-8C11-85ECB8696112}"/>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D0778BF7-D7E8-91CC-94CA-576B4429729D}"/>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2943680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4298AE-BA83-34F7-3AB5-2B8FAA4AEECE}"/>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36F0A92F-D851-99A1-5F56-2B62B9ACCB4D}"/>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4" name="Tijdelijke aanduiding voor voettekst 3">
            <a:extLst>
              <a:ext uri="{FF2B5EF4-FFF2-40B4-BE49-F238E27FC236}">
                <a16:creationId xmlns:a16="http://schemas.microsoft.com/office/drawing/2014/main" id="{9B3D23D5-D0F1-FA8F-D8FC-DB26BE145732}"/>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A12A2EB6-FC27-F004-6334-FBBA855BC767}"/>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669639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4CE0EB8F-85E8-58D8-8EA3-96F4F22989AA}"/>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3" name="Tijdelijke aanduiding voor voettekst 2">
            <a:extLst>
              <a:ext uri="{FF2B5EF4-FFF2-40B4-BE49-F238E27FC236}">
                <a16:creationId xmlns:a16="http://schemas.microsoft.com/office/drawing/2014/main" id="{B28756F4-1E43-EFB8-9EAF-DA2519730D6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DC8C72CC-91B7-B99D-09AC-C747ED891117}"/>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280879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4DE8FC-E3BD-3985-DB93-4212D714A603}"/>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1D7DC15D-E124-9D03-A01B-65B783CB42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8619DF78-F027-D80E-C64F-D719093A5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C2FA99F6-E18F-D7AC-4E68-85CD5C341A4D}"/>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6" name="Tijdelijke aanduiding voor voettekst 5">
            <a:extLst>
              <a:ext uri="{FF2B5EF4-FFF2-40B4-BE49-F238E27FC236}">
                <a16:creationId xmlns:a16="http://schemas.microsoft.com/office/drawing/2014/main" id="{9C8000A2-18C2-487B-5EA1-DD0F478013A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42854AE-F947-81B2-B770-D8EA518F6A73}"/>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3214864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83B6C2-E1D2-7F1F-87B6-A879BBDC306D}"/>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78E8A925-3B73-A231-A510-21C447C893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2D1117D5-CB69-1AB1-7630-E6D632A6A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8E9C0A9-B0BF-39C6-DDD4-7254CE411EA3}"/>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6" name="Tijdelijke aanduiding voor voettekst 5">
            <a:extLst>
              <a:ext uri="{FF2B5EF4-FFF2-40B4-BE49-F238E27FC236}">
                <a16:creationId xmlns:a16="http://schemas.microsoft.com/office/drawing/2014/main" id="{F400C27A-F512-6033-7884-26AF3C619B9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4E57F5E-3DA7-13DB-8A42-DEBF51B5C80B}"/>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424077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5B2743-0DB4-42C0-AE8F-9560CFB566EB}"/>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5D37151E-5FE8-5484-734C-44E7B592017B}"/>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81B3E94-EE94-6B15-3C19-4B18DF3EF02E}"/>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F8DB2FAF-236C-A7D6-280D-E192A5CFB9A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C414963B-103A-7F3D-A4AB-D9AC3D1D4CE5}"/>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179797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07E048FF-083B-04F5-0F38-1AB19791E244}"/>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BBB25B27-7AD6-A80C-801A-B7CA00155512}"/>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6AE58DA-0B98-778F-5F59-09D0A8E8074F}"/>
              </a:ext>
            </a:extLst>
          </p:cNvPr>
          <p:cNvSpPr>
            <a:spLocks noGrp="1"/>
          </p:cNvSpPr>
          <p:nvPr>
            <p:ph type="dt" sz="half" idx="10"/>
          </p:nvPr>
        </p:nvSpPr>
        <p:spPr/>
        <p:txBody>
          <a:body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B33DF092-61E8-E16D-1805-DCB0A8B80C2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9DC96AD-BDD2-C11F-A3E5-882CA5F725DC}"/>
              </a:ext>
            </a:extLst>
          </p:cNvPr>
          <p:cNvSpPr>
            <a:spLocks noGrp="1"/>
          </p:cNvSpPr>
          <p:nvPr>
            <p:ph type="sldNum" sz="quarter" idx="12"/>
          </p:nvPr>
        </p:nvSpPr>
        <p:spPr/>
        <p:txBody>
          <a:bodyPr/>
          <a:lstStyle/>
          <a:p>
            <a:fld id="{FCBA9B6A-C366-6F41-8380-5D484D979FFE}" type="slidenum">
              <a:rPr lang="nl-NL" smtClean="0"/>
              <a:t>‹nr.›</a:t>
            </a:fld>
            <a:endParaRPr lang="nl-NL"/>
          </a:p>
        </p:txBody>
      </p:sp>
    </p:spTree>
    <p:extLst>
      <p:ext uri="{BB962C8B-B14F-4D97-AF65-F5344CB8AC3E}">
        <p14:creationId xmlns:p14="http://schemas.microsoft.com/office/powerpoint/2010/main" val="696221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4D09EBDF-6F5C-309A-39B8-C4AC768A1B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A02409C2-6A67-0C71-23D0-95D4F3B15E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43FE683-74D0-5787-32B6-6651243149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76EE0E-D5D2-8643-8C5C-9D83AA1AB8BE}" type="datetimeFigureOut">
              <a:rPr lang="nl-NL" smtClean="0"/>
              <a:t>26-10-2025</a:t>
            </a:fld>
            <a:endParaRPr lang="nl-NL"/>
          </a:p>
        </p:txBody>
      </p:sp>
      <p:sp>
        <p:nvSpPr>
          <p:cNvPr id="5" name="Tijdelijke aanduiding voor voettekst 4">
            <a:extLst>
              <a:ext uri="{FF2B5EF4-FFF2-40B4-BE49-F238E27FC236}">
                <a16:creationId xmlns:a16="http://schemas.microsoft.com/office/drawing/2014/main" id="{B05E336A-9929-BF2C-AA1E-3B4C15118C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D3AA0963-156B-A4B7-46A0-620563CA3D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BA9B6A-C366-6F41-8380-5D484D979FFE}" type="slidenum">
              <a:rPr lang="nl-NL" smtClean="0"/>
              <a:t>‹nr.›</a:t>
            </a:fld>
            <a:endParaRPr lang="nl-NL"/>
          </a:p>
        </p:txBody>
      </p:sp>
    </p:spTree>
    <p:extLst>
      <p:ext uri="{BB962C8B-B14F-4D97-AF65-F5344CB8AC3E}">
        <p14:creationId xmlns:p14="http://schemas.microsoft.com/office/powerpoint/2010/main" val="303969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vo-raad.nl/artikelen/publicatiemoment-van-cijfers-is-radertje-in-het-geheel-van-mentaal-welzij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volkskrant.nl/columns-opinie/opinie-het-zijn-vooral-mensen-die-sociale-media-zo-toxisch-maken~b2ce730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volkskrant.nl/columns-opinie/opinie-het-zijn-vooral-mensen-die-sociale-media-zo-toxisch-maken~b2ce730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volkskrant.nl/tech/strijden-tegen-de-giftige-business-van-big-tech-kan-wel-degelijk-aldus-signal-baas-meredith-whittaker~ba79745f/" TargetMode="External"/><Relationship Id="rId3" Type="http://schemas.openxmlformats.org/officeDocument/2006/relationships/hyperlink" Target="https://www.volkskrant.nl/columns-opinie/opinie-de-algoritmen-van-sociale-media-hebben-veel-grotere-invloed-op-onze-smaak-voor-humor-dan-wij-nu-beseffen~bc67b417/" TargetMode="External"/><Relationship Id="rId4" Type="http://schemas.openxmlformats.org/officeDocument/2006/relationships/hyperlink" Target="https://www.volkskrant.nl/buitenland/het-extreme-deportatiebeleid-van-trump-draait-op-techbro-s~b61dc214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ndertitel 2">
            <a:extLst>
              <a:ext uri="{FF2B5EF4-FFF2-40B4-BE49-F238E27FC236}">
                <a16:creationId xmlns:a16="http://schemas.microsoft.com/office/drawing/2014/main" id="{4C7EC2C7-B862-9EDE-CF5E-7364712C6F9B}"/>
              </a:ext>
            </a:extLst>
          </p:cNvPr>
          <p:cNvSpPr>
            <a:spLocks noGrp="1"/>
          </p:cNvSpPr>
          <p:nvPr>
            <p:ph type="subTitle" idx="1"/>
          </p:nvPr>
        </p:nvSpPr>
        <p:spPr/>
        <p:txBody>
          <a:bodyPr/>
          <a:lstStyle/>
          <a:p>
            <a:r>
              <a:rPr lang="nl-NL"/>
              <a:t>Wat is de ideale omgang met de techniek om ons heen?</a:t>
            </a:r>
          </a:p>
        </p:txBody>
      </p:sp>
      <p:sp>
        <p:nvSpPr>
          <p:cNvPr id="5" name="Titel 4">
            <a:extLst>
              <a:ext uri="{FF2B5EF4-FFF2-40B4-BE49-F238E27FC236}">
                <a16:creationId xmlns:a16="http://schemas.microsoft.com/office/drawing/2014/main" id="{F68C19FE-F383-5C32-B3E2-732EDA7E6675}"/>
              </a:ext>
            </a:extLst>
          </p:cNvPr>
          <p:cNvSpPr>
            <a:spLocks noGrp="1"/>
          </p:cNvSpPr>
          <p:nvPr>
            <p:ph type="ctrTitle"/>
          </p:nvPr>
        </p:nvSpPr>
        <p:spPr/>
        <p:txBody>
          <a:bodyPr/>
          <a:lstStyle/>
          <a:p>
            <a:r>
              <a:rPr lang="nl-NL"/>
              <a:t>Hoe verhoud jij je tot technologie?</a:t>
            </a:r>
          </a:p>
        </p:txBody>
      </p:sp>
    </p:spTree>
    <p:extLst>
      <p:ext uri="{BB962C8B-B14F-4D97-AF65-F5344CB8AC3E}">
        <p14:creationId xmlns:p14="http://schemas.microsoft.com/office/powerpoint/2010/main" val="3941307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24A9D0-3F2C-C11D-F582-74DF1C6D8D0A}"/>
              </a:ext>
            </a:extLst>
          </p:cNvPr>
          <p:cNvSpPr>
            <a:spLocks noGrp="1"/>
          </p:cNvSpPr>
          <p:nvPr>
            <p:ph type="title"/>
          </p:nvPr>
        </p:nvSpPr>
        <p:spPr/>
        <p:txBody>
          <a:bodyPr/>
          <a:lstStyle/>
          <a:p>
            <a:r>
              <a:rPr lang="nl-NL" dirty="0"/>
              <a:t>Wat gaan we doen?</a:t>
            </a:r>
          </a:p>
        </p:txBody>
      </p:sp>
      <p:sp>
        <p:nvSpPr>
          <p:cNvPr id="3" name="Tijdelijke aanduiding voor inhoud 2">
            <a:extLst>
              <a:ext uri="{FF2B5EF4-FFF2-40B4-BE49-F238E27FC236}">
                <a16:creationId xmlns:a16="http://schemas.microsoft.com/office/drawing/2014/main" id="{B1FE5A66-75D9-9425-10FE-C7BB91DECFFE}"/>
              </a:ext>
            </a:extLst>
          </p:cNvPr>
          <p:cNvSpPr>
            <a:spLocks noGrp="1"/>
          </p:cNvSpPr>
          <p:nvPr>
            <p:ph idx="1"/>
          </p:nvPr>
        </p:nvSpPr>
        <p:spPr/>
        <p:txBody>
          <a:bodyPr vert="horz" lIns="91440" tIns="45720" rIns="91440" bIns="45720" rtlCol="0" anchor="t">
            <a:normAutofit/>
          </a:bodyPr>
          <a:lstStyle/>
          <a:p>
            <a:r>
              <a:rPr lang="nl-NL" dirty="0"/>
              <a:t>Na het thema 'persoonlijkheid' gaan we nu aan de slag met het thema 'technologie'.</a:t>
            </a:r>
          </a:p>
          <a:p>
            <a:r>
              <a:rPr lang="nl-NL"/>
              <a:t>Er is weer een hoofdvraag waar jij jouw antwoord op formuleert.</a:t>
            </a:r>
            <a:endParaRPr lang="nl-NL" dirty="0"/>
          </a:p>
          <a:p>
            <a:r>
              <a:rPr lang="nl-NL" dirty="0"/>
              <a:t>Na het lezen van diverse artikelen en het doen van diverse </a:t>
            </a:r>
            <a:r>
              <a:rPr lang="nl-NL"/>
              <a:t>opdrachten kijk je steeds weer opnieuw of je je antwoord bijstelt.</a:t>
            </a:r>
            <a:endParaRPr lang="nl-NL" dirty="0"/>
          </a:p>
          <a:p>
            <a:r>
              <a:rPr lang="nl-NL" dirty="0"/>
              <a:t>Al die aantekeningen verzamel je in je kladschrift en aan het eind </a:t>
            </a:r>
            <a:r>
              <a:rPr lang="nl-NL"/>
              <a:t>maak je er een opdracht over in je netschrift.</a:t>
            </a:r>
            <a:endParaRPr lang="nl-NL" dirty="0"/>
          </a:p>
          <a:p>
            <a:r>
              <a:rPr lang="nl-NL" dirty="0"/>
              <a:t>Sommige opdrachtjes tussendoor maak je ook in je netschrift.</a:t>
            </a:r>
          </a:p>
          <a:p>
            <a:pPr marL="0" indent="0">
              <a:buNone/>
            </a:pPr>
            <a:endParaRPr lang="nl-NL" dirty="0"/>
          </a:p>
        </p:txBody>
      </p:sp>
    </p:spTree>
    <p:extLst>
      <p:ext uri="{BB962C8B-B14F-4D97-AF65-F5344CB8AC3E}">
        <p14:creationId xmlns:p14="http://schemas.microsoft.com/office/powerpoint/2010/main" val="1852618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1E1EBC-B7A5-034F-3C40-9F7F21517C1D}"/>
              </a:ext>
            </a:extLst>
          </p:cNvPr>
          <p:cNvSpPr>
            <a:spLocks noGrp="1"/>
          </p:cNvSpPr>
          <p:nvPr>
            <p:ph type="title"/>
          </p:nvPr>
        </p:nvSpPr>
        <p:spPr/>
        <p:txBody>
          <a:bodyPr/>
          <a:lstStyle/>
          <a:p>
            <a:r>
              <a:rPr lang="nl-NL" dirty="0"/>
              <a:t>Intro: Magister</a:t>
            </a:r>
          </a:p>
        </p:txBody>
      </p:sp>
      <p:sp>
        <p:nvSpPr>
          <p:cNvPr id="3" name="Tijdelijke aanduiding voor inhoud 2">
            <a:extLst>
              <a:ext uri="{FF2B5EF4-FFF2-40B4-BE49-F238E27FC236}">
                <a16:creationId xmlns:a16="http://schemas.microsoft.com/office/drawing/2014/main" id="{6A4E2ED6-72B2-38A8-BD22-656C2468C703}"/>
              </a:ext>
            </a:extLst>
          </p:cNvPr>
          <p:cNvSpPr>
            <a:spLocks noGrp="1"/>
          </p:cNvSpPr>
          <p:nvPr>
            <p:ph idx="1"/>
          </p:nvPr>
        </p:nvSpPr>
        <p:spPr/>
        <p:txBody>
          <a:bodyPr vert="horz" lIns="91440" tIns="45720" rIns="91440" bIns="45720" rtlCol="0" anchor="t">
            <a:normAutofit/>
          </a:bodyPr>
          <a:lstStyle/>
          <a:p>
            <a:r>
              <a:rPr lang="nl-NL" dirty="0">
                <a:hlinkClick r:id="rId2"/>
              </a:rPr>
              <a:t>Kalsbeek</a:t>
            </a:r>
          </a:p>
          <a:p>
            <a:r>
              <a:rPr lang="nl-NL"/>
              <a:t>Lubach</a:t>
            </a:r>
            <a:endParaRPr lang="nl-NL" dirty="0"/>
          </a:p>
        </p:txBody>
      </p:sp>
    </p:spTree>
    <p:extLst>
      <p:ext uri="{BB962C8B-B14F-4D97-AF65-F5344CB8AC3E}">
        <p14:creationId xmlns:p14="http://schemas.microsoft.com/office/powerpoint/2010/main" val="854410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9CA02F-8C2F-47F3-56C1-7DA2F3468ED3}"/>
              </a:ext>
            </a:extLst>
          </p:cNvPr>
          <p:cNvSpPr>
            <a:spLocks noGrp="1"/>
          </p:cNvSpPr>
          <p:nvPr>
            <p:ph type="title"/>
          </p:nvPr>
        </p:nvSpPr>
        <p:spPr/>
        <p:txBody>
          <a:bodyPr/>
          <a:lstStyle/>
          <a:p>
            <a:r>
              <a:rPr lang="nl-NL" dirty="0"/>
              <a:t>Startopdracht</a:t>
            </a:r>
          </a:p>
        </p:txBody>
      </p:sp>
      <p:sp>
        <p:nvSpPr>
          <p:cNvPr id="3" name="Tijdelijke aanduiding voor inhoud 2">
            <a:extLst>
              <a:ext uri="{FF2B5EF4-FFF2-40B4-BE49-F238E27FC236}">
                <a16:creationId xmlns:a16="http://schemas.microsoft.com/office/drawing/2014/main" id="{2F4ECB79-369E-3437-8F0A-ADD08D0D3CAC}"/>
              </a:ext>
            </a:extLst>
          </p:cNvPr>
          <p:cNvSpPr>
            <a:spLocks noGrp="1"/>
          </p:cNvSpPr>
          <p:nvPr>
            <p:ph idx="1"/>
          </p:nvPr>
        </p:nvSpPr>
        <p:spPr/>
        <p:txBody>
          <a:bodyPr vert="horz" lIns="91440" tIns="45720" rIns="91440" bIns="45720" rtlCol="0" anchor="t">
            <a:normAutofit/>
          </a:bodyPr>
          <a:lstStyle/>
          <a:p>
            <a:r>
              <a:rPr lang="nl-NL" dirty="0"/>
              <a:t>Schrijf een liefdesbrief of ode aan je telefoon. </a:t>
            </a:r>
          </a:p>
          <a:p>
            <a:r>
              <a:rPr lang="nl-NL" dirty="0"/>
              <a:t>Hoe ziet jouw ideale relatie met dit voorwerp eruit? </a:t>
            </a:r>
          </a:p>
          <a:p>
            <a:r>
              <a:rPr lang="nl-NL" dirty="0"/>
              <a:t>Wat waardeer je, wat trekt je aan?</a:t>
            </a:r>
          </a:p>
          <a:p>
            <a:r>
              <a:rPr lang="nl-NL" dirty="0"/>
              <a:t>Zit je nog steeds op een roze wolk of zijn er ook al scheurtjes zichtbaar…?</a:t>
            </a:r>
          </a:p>
          <a:p>
            <a:r>
              <a:rPr lang="nl-NL" dirty="0"/>
              <a:t>Gebruik mooie/nieuwe woorden, maak gebruik van vergelijkingen en andere stijlfiguren.</a:t>
            </a:r>
          </a:p>
          <a:p>
            <a:endParaRPr lang="nl-NL"/>
          </a:p>
        </p:txBody>
      </p:sp>
    </p:spTree>
    <p:extLst>
      <p:ext uri="{BB962C8B-B14F-4D97-AF65-F5344CB8AC3E}">
        <p14:creationId xmlns:p14="http://schemas.microsoft.com/office/powerpoint/2010/main" val="1865087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EBC05E-D7E7-6E6F-7F52-C7C844DA9762}"/>
              </a:ext>
            </a:extLst>
          </p:cNvPr>
          <p:cNvSpPr>
            <a:spLocks noGrp="1"/>
          </p:cNvSpPr>
          <p:nvPr>
            <p:ph type="title"/>
          </p:nvPr>
        </p:nvSpPr>
        <p:spPr/>
        <p:txBody>
          <a:bodyPr/>
          <a:lstStyle/>
          <a:p>
            <a:r>
              <a:rPr lang="nl-NL" dirty="0"/>
              <a:t>Beantwoord de hoofdvraag</a:t>
            </a:r>
          </a:p>
        </p:txBody>
      </p:sp>
      <p:sp>
        <p:nvSpPr>
          <p:cNvPr id="3" name="Tijdelijke aanduiding voor inhoud 2">
            <a:extLst>
              <a:ext uri="{FF2B5EF4-FFF2-40B4-BE49-F238E27FC236}">
                <a16:creationId xmlns:a16="http://schemas.microsoft.com/office/drawing/2014/main" id="{493FC45C-99FF-2203-E364-4D6E80604651}"/>
              </a:ext>
            </a:extLst>
          </p:cNvPr>
          <p:cNvSpPr>
            <a:spLocks noGrp="1"/>
          </p:cNvSpPr>
          <p:nvPr>
            <p:ph idx="1"/>
          </p:nvPr>
        </p:nvSpPr>
        <p:spPr/>
        <p:txBody>
          <a:bodyPr vert="horz" lIns="91440" tIns="45720" rIns="91440" bIns="45720" rtlCol="0" anchor="t">
            <a:normAutofit/>
          </a:bodyPr>
          <a:lstStyle/>
          <a:p>
            <a:pPr marL="0" indent="0">
              <a:buNone/>
            </a:pPr>
            <a:r>
              <a:rPr lang="nl-NL" sz="2400" dirty="0"/>
              <a:t>Wat is volgens jou de ideale omgang met de techniek om ons heen?</a:t>
            </a:r>
            <a:endParaRPr lang="nl-NL" dirty="0"/>
          </a:p>
          <a:p>
            <a:pPr marL="0" indent="0">
              <a:buNone/>
            </a:pPr>
            <a:endParaRPr lang="nl-NL"/>
          </a:p>
          <a:p>
            <a:r>
              <a:rPr lang="nl-NL" sz="2400"/>
              <a:t>Leg uit wat jij de ideale omgang met technologie vindt.</a:t>
            </a:r>
          </a:p>
          <a:p>
            <a:r>
              <a:rPr lang="nl-NL" sz="2400" dirty="0"/>
              <a:t>Leg uit waarom je dat vindt.</a:t>
            </a:r>
          </a:p>
          <a:p>
            <a:r>
              <a:rPr lang="nl-NL" sz="2400" dirty="0"/>
              <a:t>Geef minstens twee voorbeelden van technologische middelen waar jij zelf gebruik van maakt.</a:t>
            </a:r>
          </a:p>
          <a:p>
            <a:pPr marL="0" indent="0">
              <a:buNone/>
            </a:pPr>
            <a:endParaRPr lang="nl-NL" dirty="0"/>
          </a:p>
        </p:txBody>
      </p:sp>
    </p:spTree>
    <p:extLst>
      <p:ext uri="{BB962C8B-B14F-4D97-AF65-F5344CB8AC3E}">
        <p14:creationId xmlns:p14="http://schemas.microsoft.com/office/powerpoint/2010/main" val="315933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3F26D2-7968-4D48-F260-B0F95336810F}"/>
              </a:ext>
            </a:extLst>
          </p:cNvPr>
          <p:cNvSpPr>
            <a:spLocks noGrp="1"/>
          </p:cNvSpPr>
          <p:nvPr>
            <p:ph type="title"/>
          </p:nvPr>
        </p:nvSpPr>
        <p:spPr/>
        <p:txBody>
          <a:bodyPr/>
          <a:lstStyle/>
          <a:p>
            <a:r>
              <a:rPr lang="nl-NL" dirty="0"/>
              <a:t>Uitleg Diep Lezen</a:t>
            </a:r>
          </a:p>
        </p:txBody>
      </p:sp>
      <p:sp>
        <p:nvSpPr>
          <p:cNvPr id="3" name="Tijdelijke aanduiding voor inhoud 2">
            <a:extLst>
              <a:ext uri="{FF2B5EF4-FFF2-40B4-BE49-F238E27FC236}">
                <a16:creationId xmlns:a16="http://schemas.microsoft.com/office/drawing/2014/main" id="{1751A806-A2B5-91FB-3D27-503458C90E41}"/>
              </a:ext>
            </a:extLst>
          </p:cNvPr>
          <p:cNvSpPr>
            <a:spLocks noGrp="1"/>
          </p:cNvSpPr>
          <p:nvPr>
            <p:ph idx="1"/>
          </p:nvPr>
        </p:nvSpPr>
        <p:spPr/>
        <p:txBody>
          <a:bodyPr vert="horz" lIns="91440" tIns="45720" rIns="91440" bIns="45720" rtlCol="0" anchor="t">
            <a:normAutofit/>
          </a:bodyPr>
          <a:lstStyle/>
          <a:p>
            <a:r>
              <a:rPr lang="nl-NL" dirty="0"/>
              <a:t>Waarom lees je eigenlijk iets?</a:t>
            </a:r>
          </a:p>
          <a:p>
            <a:r>
              <a:rPr lang="nl-NL" dirty="0"/>
              <a:t>Om iets te weten te komen:</a:t>
            </a:r>
          </a:p>
          <a:p>
            <a:pPr lvl="1"/>
            <a:r>
              <a:rPr lang="nl-NL" dirty="0"/>
              <a:t>Omdat je dat wilt</a:t>
            </a:r>
          </a:p>
          <a:p>
            <a:pPr lvl="1"/>
            <a:r>
              <a:rPr lang="nl-NL" dirty="0"/>
              <a:t>Omdat je dat moet</a:t>
            </a:r>
          </a:p>
          <a:p>
            <a:pPr lvl="1"/>
            <a:r>
              <a:rPr lang="nl-NL" dirty="0"/>
              <a:t>Omdat je iets wilt kunnen</a:t>
            </a:r>
          </a:p>
          <a:p>
            <a:pPr lvl="1"/>
            <a:r>
              <a:rPr lang="nl-NL" dirty="0"/>
              <a:t>Omdat je Nieuwsgierig bent</a:t>
            </a:r>
          </a:p>
          <a:p>
            <a:pPr>
              <a:buFont typeface="Wingdings" pitchFamily="2" charset="2"/>
              <a:buChar char="à"/>
            </a:pPr>
            <a:endParaRPr lang="nl-NL">
              <a:sym typeface="Wingdings" pitchFamily="2" charset="2"/>
            </a:endParaRPr>
          </a:p>
          <a:p>
            <a:pPr>
              <a:buFont typeface="Wingdings" pitchFamily="2" charset="2"/>
              <a:buChar char="à"/>
            </a:pPr>
            <a:endParaRPr lang="nl-NL">
              <a:sym typeface="Wingdings" pitchFamily="2" charset="2"/>
            </a:endParaRPr>
          </a:p>
          <a:p>
            <a:r>
              <a:rPr lang="nl-NL" dirty="0">
                <a:sym typeface="Wingdings" pitchFamily="2" charset="2"/>
              </a:rPr>
              <a:t>Wat is diep lezen?</a:t>
            </a:r>
            <a:endParaRPr lang="nl-NL" dirty="0"/>
          </a:p>
          <a:p>
            <a:endParaRPr lang="nl-NL"/>
          </a:p>
        </p:txBody>
      </p:sp>
    </p:spTree>
    <p:extLst>
      <p:ext uri="{BB962C8B-B14F-4D97-AF65-F5344CB8AC3E}">
        <p14:creationId xmlns:p14="http://schemas.microsoft.com/office/powerpoint/2010/main" val="3844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7FA191-7252-F4E1-5663-1833A3FD793C}"/>
              </a:ext>
            </a:extLst>
          </p:cNvPr>
          <p:cNvSpPr>
            <a:spLocks noGrp="1"/>
          </p:cNvSpPr>
          <p:nvPr>
            <p:ph type="title"/>
          </p:nvPr>
        </p:nvSpPr>
        <p:spPr/>
        <p:txBody>
          <a:bodyPr/>
          <a:lstStyle/>
          <a:p>
            <a:r>
              <a:rPr lang="nl-NL"/>
              <a:t>Leesstrategieën voor diep lezen</a:t>
            </a:r>
          </a:p>
        </p:txBody>
      </p:sp>
      <p:pic>
        <p:nvPicPr>
          <p:cNvPr id="4" name="Picture 13">
            <a:extLst>
              <a:ext uri="{FF2B5EF4-FFF2-40B4-BE49-F238E27FC236}">
                <a16:creationId xmlns:a16="http://schemas.microsoft.com/office/drawing/2014/main" id="{9BF3CA8A-EBD5-CF80-D8D3-020F24D0E2E1}"/>
              </a:ext>
            </a:extLst>
          </p:cNvPr>
          <p:cNvPicPr>
            <a:picLocks noGrp="1" noChangeAspect="1"/>
          </p:cNvPicPr>
          <p:nvPr>
            <p:ph idx="1"/>
          </p:nvPr>
        </p:nvPicPr>
        <p:blipFill>
          <a:blip r:embed="rId2"/>
          <a:stretch>
            <a:fillRect/>
          </a:stretch>
        </p:blipFill>
        <p:spPr>
          <a:xfrm>
            <a:off x="838199" y="1536199"/>
            <a:ext cx="9556531" cy="5327978"/>
          </a:xfrm>
          <a:prstGeom prst="rect">
            <a:avLst/>
          </a:prstGeom>
        </p:spPr>
      </p:pic>
      <p:sp>
        <p:nvSpPr>
          <p:cNvPr id="3" name="Rechthoek 2">
            <a:extLst>
              <a:ext uri="{FF2B5EF4-FFF2-40B4-BE49-F238E27FC236}">
                <a16:creationId xmlns:a16="http://schemas.microsoft.com/office/drawing/2014/main" id="{0DFCB3E7-32EE-89B7-84DD-3BA167930227}"/>
              </a:ext>
            </a:extLst>
          </p:cNvPr>
          <p:cNvSpPr/>
          <p:nvPr/>
        </p:nvSpPr>
        <p:spPr>
          <a:xfrm>
            <a:off x="838198" y="2196791"/>
            <a:ext cx="1325138" cy="38025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nl-NL"/>
          </a:p>
        </p:txBody>
      </p:sp>
      <p:sp>
        <p:nvSpPr>
          <p:cNvPr id="5" name="Rechthoek 4">
            <a:extLst>
              <a:ext uri="{FF2B5EF4-FFF2-40B4-BE49-F238E27FC236}">
                <a16:creationId xmlns:a16="http://schemas.microsoft.com/office/drawing/2014/main" id="{75FEEF50-B718-BCD1-5145-7388D427832D}"/>
              </a:ext>
            </a:extLst>
          </p:cNvPr>
          <p:cNvSpPr/>
          <p:nvPr/>
        </p:nvSpPr>
        <p:spPr>
          <a:xfrm>
            <a:off x="9043639" y="2196791"/>
            <a:ext cx="1282390" cy="41259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1560451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DA1-227F-23FC-F966-2F431DC5362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6061F46-C12F-D3BF-97C6-E7749E4A4DD0}"/>
              </a:ext>
            </a:extLst>
          </p:cNvPr>
          <p:cNvSpPr>
            <a:spLocks noGrp="1"/>
          </p:cNvSpPr>
          <p:nvPr>
            <p:ph type="title"/>
          </p:nvPr>
        </p:nvSpPr>
        <p:spPr/>
        <p:txBody>
          <a:bodyPr/>
          <a:lstStyle/>
          <a:p>
            <a:r>
              <a:rPr lang="nl-NL"/>
              <a:t>Leesstrategieën voor diep lezen</a:t>
            </a:r>
          </a:p>
        </p:txBody>
      </p:sp>
      <p:pic>
        <p:nvPicPr>
          <p:cNvPr id="4" name="Picture 13">
            <a:extLst>
              <a:ext uri="{FF2B5EF4-FFF2-40B4-BE49-F238E27FC236}">
                <a16:creationId xmlns:a16="http://schemas.microsoft.com/office/drawing/2014/main" id="{7E3D18BB-9015-663E-0F4B-2BC9D31F9721}"/>
              </a:ext>
            </a:extLst>
          </p:cNvPr>
          <p:cNvPicPr>
            <a:picLocks noGrp="1" noChangeAspect="1"/>
          </p:cNvPicPr>
          <p:nvPr>
            <p:ph idx="1"/>
          </p:nvPr>
        </p:nvPicPr>
        <p:blipFill>
          <a:blip r:embed="rId2"/>
          <a:stretch>
            <a:fillRect/>
          </a:stretch>
        </p:blipFill>
        <p:spPr>
          <a:xfrm>
            <a:off x="838199" y="1536199"/>
            <a:ext cx="9556531" cy="5327978"/>
          </a:xfrm>
          <a:prstGeom prst="rect">
            <a:avLst/>
          </a:prstGeom>
        </p:spPr>
      </p:pic>
    </p:spTree>
    <p:extLst>
      <p:ext uri="{BB962C8B-B14F-4D97-AF65-F5344CB8AC3E}">
        <p14:creationId xmlns:p14="http://schemas.microsoft.com/office/powerpoint/2010/main" val="121416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CD0486-DABB-AE17-EBC3-7FD618570CB1}"/>
              </a:ext>
            </a:extLst>
          </p:cNvPr>
          <p:cNvSpPr>
            <a:spLocks noGrp="1"/>
          </p:cNvSpPr>
          <p:nvPr>
            <p:ph type="title"/>
          </p:nvPr>
        </p:nvSpPr>
        <p:spPr/>
        <p:txBody>
          <a:bodyPr>
            <a:normAutofit fontScale="90000"/>
          </a:bodyPr>
          <a:lstStyle/>
          <a:p>
            <a:br>
              <a:rPr lang="nl-NL" dirty="0"/>
            </a:br>
            <a:br>
              <a:rPr lang="nl-NL" dirty="0"/>
            </a:br>
            <a:br>
              <a:rPr lang="nl-NL" dirty="0"/>
            </a:br>
            <a:r>
              <a:rPr lang="nl-NL" dirty="0"/>
              <a:t>Sociale media (voorbereiding artikel 1)</a:t>
            </a:r>
            <a:br>
              <a:rPr lang="nl-NL" dirty="0"/>
            </a:br>
            <a:br>
              <a:rPr lang="nl-NL" dirty="0"/>
            </a:br>
            <a:br>
              <a:rPr lang="nl-NL" dirty="0"/>
            </a:br>
            <a:endParaRPr lang="nl-NL"/>
          </a:p>
        </p:txBody>
      </p:sp>
      <p:sp>
        <p:nvSpPr>
          <p:cNvPr id="3" name="Tijdelijke aanduiding voor inhoud 2">
            <a:extLst>
              <a:ext uri="{FF2B5EF4-FFF2-40B4-BE49-F238E27FC236}">
                <a16:creationId xmlns:a16="http://schemas.microsoft.com/office/drawing/2014/main" id="{A42139D7-6118-81AE-F38C-EDBB69383347}"/>
              </a:ext>
            </a:extLst>
          </p:cNvPr>
          <p:cNvSpPr>
            <a:spLocks noGrp="1"/>
          </p:cNvSpPr>
          <p:nvPr>
            <p:ph idx="1"/>
          </p:nvPr>
        </p:nvSpPr>
        <p:spPr>
          <a:xfrm>
            <a:off x="838200" y="2056851"/>
            <a:ext cx="10515600" cy="4351338"/>
          </a:xfrm>
        </p:spPr>
        <p:txBody>
          <a:bodyPr vert="horz" lIns="91440" tIns="45720" rIns="91440" bIns="45720" rtlCol="0" anchor="t">
            <a:normAutofit/>
          </a:bodyPr>
          <a:lstStyle/>
          <a:p>
            <a:endParaRPr lang="nl-NL" sz="2400" dirty="0"/>
          </a:p>
          <a:p>
            <a:r>
              <a:rPr lang="nl-NL" sz="2400" dirty="0"/>
              <a:t>Hoeveel schermtijd heb jij gemiddeld doordeweeks?</a:t>
            </a:r>
            <a:endParaRPr lang="nl-NL" dirty="0"/>
          </a:p>
          <a:p>
            <a:r>
              <a:rPr lang="nl-NL" sz="2400" dirty="0"/>
              <a:t>Welke sociale media gebruik je allemaal? </a:t>
            </a:r>
          </a:p>
          <a:p>
            <a:r>
              <a:rPr lang="nl-NL" sz="2400" dirty="0"/>
              <a:t>Hoe ga je zelf om met alle sociale media om je heen?</a:t>
            </a:r>
          </a:p>
          <a:p>
            <a:r>
              <a:rPr lang="nl-NL" sz="2400" dirty="0"/>
              <a:t>In hoeverre hebben sociale media invloed op jouw manier van denken? </a:t>
            </a:r>
          </a:p>
          <a:p>
            <a:r>
              <a:rPr lang="nl-NL" sz="2400" dirty="0"/>
              <a:t>Wat zijn voor- en nadelen van sociale media voor jou?</a:t>
            </a:r>
          </a:p>
          <a:p>
            <a:endParaRPr lang="nl-NL" sz="2400"/>
          </a:p>
          <a:p>
            <a:pPr marL="0" indent="0">
              <a:buNone/>
            </a:pPr>
            <a:endParaRPr lang="nl-NL" sz="2400" dirty="0"/>
          </a:p>
          <a:p>
            <a:endParaRPr lang="nl-NL" sz="2400"/>
          </a:p>
        </p:txBody>
      </p:sp>
    </p:spTree>
    <p:extLst>
      <p:ext uri="{BB962C8B-B14F-4D97-AF65-F5344CB8AC3E}">
        <p14:creationId xmlns:p14="http://schemas.microsoft.com/office/powerpoint/2010/main" val="954624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B00A98-96F8-55DE-F41E-E492C044CA4D}"/>
              </a:ext>
            </a:extLst>
          </p:cNvPr>
          <p:cNvSpPr>
            <a:spLocks noGrp="1"/>
          </p:cNvSpPr>
          <p:nvPr>
            <p:ph type="title"/>
          </p:nvPr>
        </p:nvSpPr>
        <p:spPr/>
        <p:txBody>
          <a:bodyPr>
            <a:normAutofit/>
          </a:bodyPr>
          <a:lstStyle/>
          <a:p>
            <a:r>
              <a:rPr lang="nl-NL" sz="3200" dirty="0"/>
              <a:t>Artikel 1: sociale media</a:t>
            </a:r>
            <a:endParaRPr lang="nl-NL" dirty="0"/>
          </a:p>
        </p:txBody>
      </p:sp>
      <p:sp>
        <p:nvSpPr>
          <p:cNvPr id="3" name="Tijdelijke aanduiding voor inhoud 2">
            <a:extLst>
              <a:ext uri="{FF2B5EF4-FFF2-40B4-BE49-F238E27FC236}">
                <a16:creationId xmlns:a16="http://schemas.microsoft.com/office/drawing/2014/main" id="{6F0B46AC-3372-3228-C1AA-5F83424A5C19}"/>
              </a:ext>
            </a:extLst>
          </p:cNvPr>
          <p:cNvSpPr>
            <a:spLocks noGrp="1"/>
          </p:cNvSpPr>
          <p:nvPr>
            <p:ph idx="1"/>
          </p:nvPr>
        </p:nvSpPr>
        <p:spPr/>
        <p:txBody>
          <a:bodyPr>
            <a:normAutofit/>
          </a:bodyPr>
          <a:lstStyle/>
          <a:p>
            <a:r>
              <a:rPr lang="nl-NL" sz="2000">
                <a:hlinkClick r:id="rId2"/>
              </a:rPr>
              <a:t>https://www.volkskrant.nl/columns-opinie/opinie-het-zijn-vooral-mensen-die-sociale-media-zo-toxisch-maken~b2ce7309/</a:t>
            </a:r>
            <a:endParaRPr lang="nl-NL" sz="2000"/>
          </a:p>
          <a:p>
            <a:endParaRPr lang="nl-NL"/>
          </a:p>
          <a:p>
            <a:pPr marL="0" indent="0">
              <a:buNone/>
            </a:pPr>
            <a:r>
              <a:rPr lang="nl-NL" sz="2000"/>
              <a:t>VOOR HET LEZEN: </a:t>
            </a:r>
          </a:p>
          <a:p>
            <a:r>
              <a:rPr lang="nl-NL" sz="2000"/>
              <a:t>Waar verwacht je dat het artikel over gaat?</a:t>
            </a:r>
          </a:p>
          <a:p>
            <a:r>
              <a:rPr lang="nl-NL" sz="2000"/>
              <a:t>Wat weet je over de auteur (zie kader)? Wat verwacht je daardoor?</a:t>
            </a:r>
          </a:p>
          <a:p>
            <a:r>
              <a:rPr lang="nl-NL" sz="2000"/>
              <a:t>Wat is een opiniestuk? Wat doet dit met jouw verwachtingen van de tekst?</a:t>
            </a:r>
          </a:p>
          <a:p>
            <a:r>
              <a:rPr lang="nl-NL" sz="2000"/>
              <a:t>Wat verwacht je als je de titel leest?</a:t>
            </a:r>
          </a:p>
          <a:p>
            <a:r>
              <a:rPr lang="nl-NL" sz="2000"/>
              <a:t>Wat betekent toxisch?</a:t>
            </a:r>
          </a:p>
          <a:p>
            <a:pPr marL="0" indent="0">
              <a:buNone/>
            </a:pPr>
            <a:endParaRPr lang="nl-NL" sz="2000"/>
          </a:p>
          <a:p>
            <a:endParaRPr lang="nl-NL" sz="2000"/>
          </a:p>
        </p:txBody>
      </p:sp>
    </p:spTree>
    <p:extLst>
      <p:ext uri="{BB962C8B-B14F-4D97-AF65-F5344CB8AC3E}">
        <p14:creationId xmlns:p14="http://schemas.microsoft.com/office/powerpoint/2010/main" val="1345670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088B-36E0-7653-4D41-DDFBB4C85B7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3389B08-DDE5-C574-D837-5B4BCD875AE8}"/>
              </a:ext>
            </a:extLst>
          </p:cNvPr>
          <p:cNvSpPr>
            <a:spLocks noGrp="1"/>
          </p:cNvSpPr>
          <p:nvPr>
            <p:ph type="title"/>
          </p:nvPr>
        </p:nvSpPr>
        <p:spPr/>
        <p:txBody>
          <a:bodyPr>
            <a:normAutofit/>
          </a:bodyPr>
          <a:lstStyle/>
          <a:p>
            <a:r>
              <a:rPr lang="nl-NL" sz="3200"/>
              <a:t>Lezen: we lezen dit opiniestuk samen</a:t>
            </a:r>
          </a:p>
        </p:txBody>
      </p:sp>
      <p:sp>
        <p:nvSpPr>
          <p:cNvPr id="3" name="Tijdelijke aanduiding voor inhoud 2">
            <a:extLst>
              <a:ext uri="{FF2B5EF4-FFF2-40B4-BE49-F238E27FC236}">
                <a16:creationId xmlns:a16="http://schemas.microsoft.com/office/drawing/2014/main" id="{43DA442D-3FC8-C711-3ABB-B235F0AC3BBD}"/>
              </a:ext>
            </a:extLst>
          </p:cNvPr>
          <p:cNvSpPr>
            <a:spLocks noGrp="1"/>
          </p:cNvSpPr>
          <p:nvPr>
            <p:ph idx="1"/>
          </p:nvPr>
        </p:nvSpPr>
        <p:spPr/>
        <p:txBody>
          <a:bodyPr vert="horz" lIns="91440" tIns="45720" rIns="91440" bIns="45720" rtlCol="0" anchor="t">
            <a:normAutofit/>
          </a:bodyPr>
          <a:lstStyle/>
          <a:p>
            <a:r>
              <a:rPr lang="nl-NL" sz="2000" dirty="0">
                <a:hlinkClick r:id="rId2"/>
              </a:rPr>
              <a:t>https://www.volkskrant.nl/columns-opinie/opinie-het-zijn-vooral-mensen-die-sociale-media-zo-toxisch-maken~b2ce7309/</a:t>
            </a:r>
            <a:endParaRPr lang="nl-NL" sz="2000" dirty="0"/>
          </a:p>
          <a:p>
            <a:endParaRPr lang="nl-NL" dirty="0"/>
          </a:p>
          <a:p>
            <a:pPr marL="0" indent="0">
              <a:buNone/>
            </a:pPr>
            <a:r>
              <a:rPr lang="nl-NL" sz="2000" dirty="0"/>
              <a:t>TIJDENS HET LEZEN:</a:t>
            </a:r>
          </a:p>
          <a:p>
            <a:pPr marL="0" indent="0">
              <a:buNone/>
            </a:pPr>
            <a:endParaRPr lang="nl-NL" sz="2000" dirty="0"/>
          </a:p>
          <a:p>
            <a:r>
              <a:rPr lang="nl-NL" sz="2000" dirty="0"/>
              <a:t>Welk (nieuwe) visie op sociale media komt in dit artikel aan de orde?</a:t>
            </a:r>
          </a:p>
          <a:p>
            <a:r>
              <a:rPr lang="nl-NL" sz="2000" dirty="0"/>
              <a:t>Komt deze visie overeen met hoe jij zelf sociale media beleeft? Waarom wel of niet?</a:t>
            </a:r>
          </a:p>
          <a:p>
            <a:pPr>
              <a:buFont typeface="Arial"/>
              <a:buChar char="•"/>
            </a:pPr>
            <a:r>
              <a:rPr lang="nl-NL" sz="2000" dirty="0"/>
              <a:t>Wat zijn moeilijke woorden/zinnen/uitdrukkingen? Schrijf ze op.</a:t>
            </a:r>
            <a:endParaRPr lang="nl-NL" dirty="0"/>
          </a:p>
          <a:p>
            <a:pPr>
              <a:buFont typeface="Arial"/>
            </a:pPr>
            <a:endParaRPr lang="nl-NL" sz="2000" dirty="0"/>
          </a:p>
          <a:p>
            <a:pPr marL="0" indent="0">
              <a:buNone/>
            </a:pPr>
            <a:endParaRPr lang="nl-NL" sz="2000" dirty="0"/>
          </a:p>
          <a:p>
            <a:endParaRPr lang="nl-NL" sz="2000" dirty="0"/>
          </a:p>
        </p:txBody>
      </p:sp>
    </p:spTree>
    <p:extLst>
      <p:ext uri="{BB962C8B-B14F-4D97-AF65-F5344CB8AC3E}">
        <p14:creationId xmlns:p14="http://schemas.microsoft.com/office/powerpoint/2010/main" val="1989862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187C-8816-29C6-9B16-2D943594F8E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CFE4B24-4EE4-36D1-896D-AC9C36C53E40}"/>
              </a:ext>
            </a:extLst>
          </p:cNvPr>
          <p:cNvSpPr>
            <a:spLocks noGrp="1"/>
          </p:cNvSpPr>
          <p:nvPr>
            <p:ph type="title"/>
          </p:nvPr>
        </p:nvSpPr>
        <p:spPr/>
        <p:txBody>
          <a:bodyPr/>
          <a:lstStyle/>
          <a:p>
            <a:r>
              <a:rPr lang="nl-NL" dirty="0"/>
              <a:t>Na het lezen: schrijf op</a:t>
            </a:r>
          </a:p>
        </p:txBody>
      </p:sp>
      <p:sp>
        <p:nvSpPr>
          <p:cNvPr id="3" name="Tijdelijke aanduiding voor inhoud 2">
            <a:extLst>
              <a:ext uri="{FF2B5EF4-FFF2-40B4-BE49-F238E27FC236}">
                <a16:creationId xmlns:a16="http://schemas.microsoft.com/office/drawing/2014/main" id="{2D140A2F-DEEF-A369-5B61-4763DC85FE73}"/>
              </a:ext>
            </a:extLst>
          </p:cNvPr>
          <p:cNvSpPr>
            <a:spLocks noGrp="1"/>
          </p:cNvSpPr>
          <p:nvPr>
            <p:ph idx="1"/>
          </p:nvPr>
        </p:nvSpPr>
        <p:spPr/>
        <p:txBody>
          <a:bodyPr vert="horz" lIns="91440" tIns="45720" rIns="91440" bIns="45720" rtlCol="0" anchor="t">
            <a:normAutofit/>
          </a:bodyPr>
          <a:lstStyle/>
          <a:p>
            <a:endParaRPr lang="nl-NL"/>
          </a:p>
          <a:p>
            <a:r>
              <a:rPr lang="nl-NL" dirty="0"/>
              <a:t>Wat is de hoofdgedachte van dit artikel?</a:t>
            </a:r>
          </a:p>
          <a:p>
            <a:r>
              <a:rPr lang="nl-NL" dirty="0"/>
              <a:t>Hoe denk jij hierover?</a:t>
            </a:r>
          </a:p>
          <a:p>
            <a:r>
              <a:rPr lang="nl-NL" dirty="0"/>
              <a:t>Hoe zou je de cultuurverandering waarvan sprake is voor elkaar kunnen krijgen? </a:t>
            </a:r>
          </a:p>
          <a:p>
            <a:pPr marL="0" indent="0">
              <a:buNone/>
            </a:pPr>
            <a:endParaRPr lang="nl-NL" dirty="0"/>
          </a:p>
          <a:p>
            <a:pPr marL="0" indent="0">
              <a:buNone/>
            </a:pPr>
            <a:endParaRPr lang="nl-NL"/>
          </a:p>
          <a:p>
            <a:pPr marL="0" indent="0">
              <a:buNone/>
            </a:pPr>
            <a:r>
              <a:rPr lang="nl-NL" dirty="0">
                <a:sym typeface="Wingdings" pitchFamily="2" charset="2"/>
              </a:rPr>
              <a:t> Schrijf dit op in je schrift + wissel uit.</a:t>
            </a:r>
            <a:endParaRPr lang="nl-NL" dirty="0"/>
          </a:p>
        </p:txBody>
      </p:sp>
    </p:spTree>
    <p:extLst>
      <p:ext uri="{BB962C8B-B14F-4D97-AF65-F5344CB8AC3E}">
        <p14:creationId xmlns:p14="http://schemas.microsoft.com/office/powerpoint/2010/main" val="404235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10CC81-E87B-5709-FBD0-57F53D880C80}"/>
              </a:ext>
            </a:extLst>
          </p:cNvPr>
          <p:cNvSpPr>
            <a:spLocks noGrp="1"/>
          </p:cNvSpPr>
          <p:nvPr>
            <p:ph type="title"/>
          </p:nvPr>
        </p:nvSpPr>
        <p:spPr/>
        <p:txBody>
          <a:bodyPr/>
          <a:lstStyle/>
          <a:p>
            <a:r>
              <a:rPr lang="nl-NL"/>
              <a:t>Verder onderzoeken</a:t>
            </a:r>
          </a:p>
        </p:txBody>
      </p:sp>
      <p:sp>
        <p:nvSpPr>
          <p:cNvPr id="3" name="Tijdelijke aanduiding voor inhoud 2">
            <a:extLst>
              <a:ext uri="{FF2B5EF4-FFF2-40B4-BE49-F238E27FC236}">
                <a16:creationId xmlns:a16="http://schemas.microsoft.com/office/drawing/2014/main" id="{AFE81A30-EC3C-1E1C-FE25-37E31FF1F537}"/>
              </a:ext>
            </a:extLst>
          </p:cNvPr>
          <p:cNvSpPr>
            <a:spLocks noGrp="1"/>
          </p:cNvSpPr>
          <p:nvPr>
            <p:ph idx="1"/>
          </p:nvPr>
        </p:nvSpPr>
        <p:spPr/>
        <p:txBody>
          <a:bodyPr>
            <a:normAutofit/>
          </a:bodyPr>
          <a:lstStyle/>
          <a:p>
            <a:pPr marL="0" indent="0">
              <a:buNone/>
            </a:pPr>
            <a:r>
              <a:rPr lang="nl-NL" sz="2400"/>
              <a:t>De klas wordt in drie groepen verdeeld, maak daarbinnen tweetallen.</a:t>
            </a:r>
          </a:p>
          <a:p>
            <a:pPr marL="0" indent="0">
              <a:buNone/>
            </a:pPr>
            <a:endParaRPr lang="nl-NL" sz="2400"/>
          </a:p>
          <a:p>
            <a:pPr marL="0" indent="0">
              <a:buNone/>
            </a:pPr>
            <a:r>
              <a:rPr lang="nl-NL" sz="2400"/>
              <a:t>Kies een artikel:</a:t>
            </a:r>
          </a:p>
          <a:p>
            <a:r>
              <a:rPr lang="nl-NL" sz="2400">
                <a:hlinkClick r:id="rId2"/>
              </a:rPr>
              <a:t>Interview</a:t>
            </a:r>
            <a:r>
              <a:rPr lang="nl-NL" sz="2400"/>
              <a:t> met de directeur van </a:t>
            </a:r>
            <a:r>
              <a:rPr lang="nl-NL" sz="2400" err="1"/>
              <a:t>Signal</a:t>
            </a:r>
            <a:endParaRPr lang="nl-NL" sz="2400"/>
          </a:p>
          <a:p>
            <a:r>
              <a:rPr lang="nl-NL" sz="2400">
                <a:hlinkClick r:id="rId3"/>
              </a:rPr>
              <a:t>Algoritmen</a:t>
            </a:r>
            <a:r>
              <a:rPr lang="nl-NL" sz="2400"/>
              <a:t> hebben invloed op ons gevoel van humor</a:t>
            </a:r>
          </a:p>
          <a:p>
            <a:r>
              <a:rPr lang="nl-NL" sz="2400">
                <a:hlinkClick r:id="rId4"/>
              </a:rPr>
              <a:t>Big tech </a:t>
            </a:r>
            <a:r>
              <a:rPr lang="nl-NL" sz="2400"/>
              <a:t>bepaalt deportatiebeleid van </a:t>
            </a:r>
            <a:r>
              <a:rPr lang="nl-NL" sz="2400" err="1"/>
              <a:t>Trump</a:t>
            </a:r>
            <a:endParaRPr lang="nl-NL" sz="2400"/>
          </a:p>
          <a:p>
            <a:endParaRPr lang="nl-NL" sz="2400"/>
          </a:p>
          <a:p>
            <a:endParaRPr lang="nl-NL" sz="2400"/>
          </a:p>
          <a:p>
            <a:pPr marL="0" indent="0">
              <a:buNone/>
            </a:pPr>
            <a:endParaRPr lang="nl-NL" sz="2400"/>
          </a:p>
        </p:txBody>
      </p:sp>
    </p:spTree>
    <p:extLst>
      <p:ext uri="{BB962C8B-B14F-4D97-AF65-F5344CB8AC3E}">
        <p14:creationId xmlns:p14="http://schemas.microsoft.com/office/powerpoint/2010/main" val="4140642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CBE267-C2E0-3877-93C0-352CC13B2A1E}"/>
              </a:ext>
            </a:extLst>
          </p:cNvPr>
          <p:cNvSpPr>
            <a:spLocks noGrp="1"/>
          </p:cNvSpPr>
          <p:nvPr>
            <p:ph type="title"/>
          </p:nvPr>
        </p:nvSpPr>
        <p:spPr/>
        <p:txBody>
          <a:bodyPr/>
          <a:lstStyle/>
          <a:p>
            <a:r>
              <a:rPr lang="nl-NL"/>
              <a:t>Tijdens het lezen</a:t>
            </a:r>
          </a:p>
        </p:txBody>
      </p:sp>
      <p:sp>
        <p:nvSpPr>
          <p:cNvPr id="3" name="Tijdelijke aanduiding voor inhoud 2">
            <a:extLst>
              <a:ext uri="{FF2B5EF4-FFF2-40B4-BE49-F238E27FC236}">
                <a16:creationId xmlns:a16="http://schemas.microsoft.com/office/drawing/2014/main" id="{FF3F4EAD-CF56-BDD0-0400-83F29977D947}"/>
              </a:ext>
            </a:extLst>
          </p:cNvPr>
          <p:cNvSpPr>
            <a:spLocks noGrp="1"/>
          </p:cNvSpPr>
          <p:nvPr>
            <p:ph idx="1"/>
          </p:nvPr>
        </p:nvSpPr>
        <p:spPr/>
        <p:txBody>
          <a:bodyPr>
            <a:normAutofit/>
          </a:bodyPr>
          <a:lstStyle/>
          <a:p>
            <a:r>
              <a:rPr lang="nl-NL" sz="2400"/>
              <a:t>Wat voor soort artikel is het? </a:t>
            </a:r>
          </a:p>
          <a:p>
            <a:r>
              <a:rPr lang="nl-NL" sz="2400"/>
              <a:t>Wat voor kenmerken heeft de tekst (denk aan beeldend taalgebruik, vorm, toon, niveau, woordgebruik, wat valt er op?) </a:t>
            </a:r>
          </a:p>
          <a:p>
            <a:endParaRPr lang="nl-NL" sz="2400"/>
          </a:p>
          <a:p>
            <a:r>
              <a:rPr lang="nl-NL" sz="2400"/>
              <a:t>Wat zijn de overeenkomsten en verschillen tussen de zienswijzen in dit artikel en het vorige artikel?</a:t>
            </a:r>
          </a:p>
          <a:p>
            <a:r>
              <a:rPr lang="nl-NL" sz="2400"/>
              <a:t>Wat is het probleem? </a:t>
            </a:r>
          </a:p>
          <a:p>
            <a:r>
              <a:rPr lang="nl-NL" sz="2400"/>
              <a:t>Welke partijen/belanghebbenden zijn erbij betrokken?</a:t>
            </a:r>
          </a:p>
          <a:p>
            <a:r>
              <a:rPr lang="nl-NL" sz="2400"/>
              <a:t>Welk beleid zou er gemaakt moeten worden door de overheid?</a:t>
            </a:r>
          </a:p>
        </p:txBody>
      </p:sp>
    </p:spTree>
    <p:extLst>
      <p:ext uri="{BB962C8B-B14F-4D97-AF65-F5344CB8AC3E}">
        <p14:creationId xmlns:p14="http://schemas.microsoft.com/office/powerpoint/2010/main" val="2484748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E65191-BC38-B28B-C926-2B1ED1D5E90C}"/>
              </a:ext>
            </a:extLst>
          </p:cNvPr>
          <p:cNvSpPr>
            <a:spLocks noGrp="1"/>
          </p:cNvSpPr>
          <p:nvPr>
            <p:ph type="title"/>
          </p:nvPr>
        </p:nvSpPr>
        <p:spPr/>
        <p:txBody>
          <a:bodyPr/>
          <a:lstStyle/>
          <a:p>
            <a:r>
              <a:rPr lang="nl-NL"/>
              <a:t>Je mening bijslijpen</a:t>
            </a:r>
          </a:p>
        </p:txBody>
      </p:sp>
      <p:sp>
        <p:nvSpPr>
          <p:cNvPr id="3" name="Tijdelijke aanduiding voor inhoud 2">
            <a:extLst>
              <a:ext uri="{FF2B5EF4-FFF2-40B4-BE49-F238E27FC236}">
                <a16:creationId xmlns:a16="http://schemas.microsoft.com/office/drawing/2014/main" id="{37722753-0619-3D93-9BE4-A673E9346827}"/>
              </a:ext>
            </a:extLst>
          </p:cNvPr>
          <p:cNvSpPr>
            <a:spLocks noGrp="1"/>
          </p:cNvSpPr>
          <p:nvPr>
            <p:ph idx="1"/>
          </p:nvPr>
        </p:nvSpPr>
        <p:spPr/>
        <p:txBody>
          <a:bodyPr/>
          <a:lstStyle/>
          <a:p>
            <a:r>
              <a:rPr lang="nl-NL"/>
              <a:t>Welke nieuwe inzichten heb je opgedaan na het lezen van de artikelen? </a:t>
            </a:r>
          </a:p>
          <a:p>
            <a:r>
              <a:rPr lang="nl-NL"/>
              <a:t>Welke nieuwe woorden neem je op in je schrift? </a:t>
            </a:r>
          </a:p>
          <a:p>
            <a:endParaRPr lang="nl-NL"/>
          </a:p>
        </p:txBody>
      </p:sp>
    </p:spTree>
    <p:extLst>
      <p:ext uri="{BB962C8B-B14F-4D97-AF65-F5344CB8AC3E}">
        <p14:creationId xmlns:p14="http://schemas.microsoft.com/office/powerpoint/2010/main" val="659508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35C8E5-190D-29FF-2BA2-1327F996C740}"/>
              </a:ext>
            </a:extLst>
          </p:cNvPr>
          <p:cNvSpPr>
            <a:spLocks noGrp="1"/>
          </p:cNvSpPr>
          <p:nvPr>
            <p:ph type="title"/>
          </p:nvPr>
        </p:nvSpPr>
        <p:spPr/>
        <p:txBody>
          <a:bodyPr/>
          <a:lstStyle/>
          <a:p>
            <a:r>
              <a:rPr lang="nl-NL"/>
              <a:t>Spreken: voorbereiden</a:t>
            </a:r>
          </a:p>
        </p:txBody>
      </p:sp>
      <p:sp>
        <p:nvSpPr>
          <p:cNvPr id="3" name="Tijdelijke aanduiding voor inhoud 2">
            <a:extLst>
              <a:ext uri="{FF2B5EF4-FFF2-40B4-BE49-F238E27FC236}">
                <a16:creationId xmlns:a16="http://schemas.microsoft.com/office/drawing/2014/main" id="{393FE67D-D4CC-E066-FE28-8E780A0F529F}"/>
              </a:ext>
            </a:extLst>
          </p:cNvPr>
          <p:cNvSpPr>
            <a:spLocks noGrp="1"/>
          </p:cNvSpPr>
          <p:nvPr>
            <p:ph idx="1"/>
          </p:nvPr>
        </p:nvSpPr>
        <p:spPr/>
        <p:txBody>
          <a:bodyPr/>
          <a:lstStyle/>
          <a:p>
            <a:r>
              <a:rPr lang="nl-NL"/>
              <a:t>Jongeren zijn de beleidsmakers voor de toekomst. </a:t>
            </a:r>
          </a:p>
          <a:p>
            <a:r>
              <a:rPr lang="nl-NL" b="1"/>
              <a:t>Wat voor beleid is er in de toekomst nodig op het gebied van technologie om het leven voor iedereen zo veilig en prettig mogelijk te maken?</a:t>
            </a:r>
          </a:p>
          <a:p>
            <a:r>
              <a:rPr lang="nl-NL" sz="2000"/>
              <a:t>Gebruik de informatie uit de artikelen.</a:t>
            </a:r>
          </a:p>
          <a:p>
            <a:r>
              <a:rPr lang="nl-NL" sz="2000"/>
              <a:t>Maak een keuze: je schrijft een advies ofwel over het onderwijs specifiek ofwel de maatschappij in de breedte.</a:t>
            </a:r>
          </a:p>
          <a:p>
            <a:r>
              <a:rPr lang="nl-NL" sz="2000"/>
              <a:t>Let op: gebruik formele taal. </a:t>
            </a:r>
          </a:p>
        </p:txBody>
      </p:sp>
    </p:spTree>
    <p:extLst>
      <p:ext uri="{BB962C8B-B14F-4D97-AF65-F5344CB8AC3E}">
        <p14:creationId xmlns:p14="http://schemas.microsoft.com/office/powerpoint/2010/main" val="2729225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0FCCB2-3488-28D0-9AC4-3F926F27138A}"/>
              </a:ext>
            </a:extLst>
          </p:cNvPr>
          <p:cNvSpPr>
            <a:spLocks noGrp="1"/>
          </p:cNvSpPr>
          <p:nvPr>
            <p:ph type="title"/>
          </p:nvPr>
        </p:nvSpPr>
        <p:spPr/>
        <p:txBody>
          <a:bodyPr/>
          <a:lstStyle/>
          <a:p>
            <a:r>
              <a:rPr lang="nl-NL"/>
              <a:t>Spreken: in gesprek </a:t>
            </a:r>
          </a:p>
        </p:txBody>
      </p:sp>
      <p:sp>
        <p:nvSpPr>
          <p:cNvPr id="3" name="Tijdelijke aanduiding voor inhoud 2">
            <a:extLst>
              <a:ext uri="{FF2B5EF4-FFF2-40B4-BE49-F238E27FC236}">
                <a16:creationId xmlns:a16="http://schemas.microsoft.com/office/drawing/2014/main" id="{D140F1AA-1BC4-8A29-B837-8A9668A0D90A}"/>
              </a:ext>
            </a:extLst>
          </p:cNvPr>
          <p:cNvSpPr>
            <a:spLocks noGrp="1"/>
          </p:cNvSpPr>
          <p:nvPr>
            <p:ph idx="1"/>
          </p:nvPr>
        </p:nvSpPr>
        <p:spPr/>
        <p:txBody>
          <a:bodyPr/>
          <a:lstStyle/>
          <a:p>
            <a:r>
              <a:rPr lang="nl-NL"/>
              <a:t>Je presenteert je beleidsadvies aan een groep belanghebbenden.</a:t>
            </a:r>
          </a:p>
          <a:p>
            <a:r>
              <a:rPr lang="nl-NL"/>
              <a:t>Zij reageren vanuit hun eigen perspectief.</a:t>
            </a:r>
          </a:p>
          <a:p>
            <a:r>
              <a:rPr lang="nl-NL"/>
              <a:t>Ga in gesprek, zoek compromissen.</a:t>
            </a:r>
          </a:p>
        </p:txBody>
      </p:sp>
    </p:spTree>
    <p:extLst>
      <p:ext uri="{BB962C8B-B14F-4D97-AF65-F5344CB8AC3E}">
        <p14:creationId xmlns:p14="http://schemas.microsoft.com/office/powerpoint/2010/main" val="1356742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866B7C-A917-8F3E-9739-2CEAB9718EE8}"/>
              </a:ext>
            </a:extLst>
          </p:cNvPr>
          <p:cNvSpPr>
            <a:spLocks noGrp="1"/>
          </p:cNvSpPr>
          <p:nvPr>
            <p:ph type="title"/>
          </p:nvPr>
        </p:nvSpPr>
        <p:spPr/>
        <p:txBody>
          <a:bodyPr/>
          <a:lstStyle/>
          <a:p>
            <a:endParaRPr lang="nl-NL"/>
          </a:p>
        </p:txBody>
      </p:sp>
      <p:sp>
        <p:nvSpPr>
          <p:cNvPr id="3" name="Tijdelijke aanduiding voor inhoud 2">
            <a:extLst>
              <a:ext uri="{FF2B5EF4-FFF2-40B4-BE49-F238E27FC236}">
                <a16:creationId xmlns:a16="http://schemas.microsoft.com/office/drawing/2014/main" id="{ADD672B4-8764-A22C-92FD-899CCD501EF6}"/>
              </a:ext>
            </a:extLst>
          </p:cNvPr>
          <p:cNvSpPr>
            <a:spLocks noGrp="1"/>
          </p:cNvSpPr>
          <p:nvPr>
            <p:ph idx="1"/>
          </p:nvPr>
        </p:nvSpPr>
        <p:spPr/>
        <p:txBody>
          <a:bodyPr/>
          <a:lstStyle/>
          <a:p>
            <a:endParaRPr lang="nl-NL"/>
          </a:p>
        </p:txBody>
      </p:sp>
    </p:spTree>
    <p:extLst>
      <p:ext uri="{BB962C8B-B14F-4D97-AF65-F5344CB8AC3E}">
        <p14:creationId xmlns:p14="http://schemas.microsoft.com/office/powerpoint/2010/main" val="915144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FEA7F-AB2E-3E2F-17E6-DBD6D807D1D3}"/>
              </a:ext>
            </a:extLst>
          </p:cNvPr>
          <p:cNvSpPr>
            <a:spLocks noGrp="1"/>
          </p:cNvSpPr>
          <p:nvPr>
            <p:ph type="title"/>
          </p:nvPr>
        </p:nvSpPr>
        <p:spPr/>
        <p:txBody>
          <a:bodyPr/>
          <a:lstStyle/>
          <a:p>
            <a:r>
              <a:rPr lang="nl-NL"/>
              <a:t>Schrijven: Wat als er een wereld na big </a:t>
            </a:r>
            <a:r>
              <a:rPr lang="nl-NL" err="1"/>
              <a:t>tech</a:t>
            </a:r>
            <a:r>
              <a:rPr lang="nl-NL"/>
              <a:t> was…</a:t>
            </a:r>
          </a:p>
        </p:txBody>
      </p:sp>
      <p:sp>
        <p:nvSpPr>
          <p:cNvPr id="3" name="Tijdelijke aanduiding voor inhoud 2">
            <a:extLst>
              <a:ext uri="{FF2B5EF4-FFF2-40B4-BE49-F238E27FC236}">
                <a16:creationId xmlns:a16="http://schemas.microsoft.com/office/drawing/2014/main" id="{0F6C4E80-7946-3AAE-B994-A64030430DF1}"/>
              </a:ext>
            </a:extLst>
          </p:cNvPr>
          <p:cNvSpPr>
            <a:spLocks noGrp="1"/>
          </p:cNvSpPr>
          <p:nvPr>
            <p:ph idx="1"/>
          </p:nvPr>
        </p:nvSpPr>
        <p:spPr/>
        <p:txBody>
          <a:bodyPr/>
          <a:lstStyle/>
          <a:p>
            <a:r>
              <a:rPr lang="nl-NL"/>
              <a:t>We hebben afscheid genomen van alle big </a:t>
            </a:r>
            <a:r>
              <a:rPr lang="nl-NL" err="1"/>
              <a:t>tech</a:t>
            </a:r>
            <a:r>
              <a:rPr lang="nl-NL"/>
              <a:t>, algoritmen bestaan niet meer. </a:t>
            </a:r>
          </a:p>
          <a:p>
            <a:r>
              <a:rPr lang="nl-NL"/>
              <a:t>Beschrijf een dag uit het leven van een personage in deze nieuwe wereld.</a:t>
            </a:r>
          </a:p>
          <a:p>
            <a:r>
              <a:rPr lang="nl-NL"/>
              <a:t>Schrijf een brief aan je beste vriend en vriendin, hoe onderhouden jullie in deze nieuwe wereld contact?</a:t>
            </a:r>
          </a:p>
        </p:txBody>
      </p:sp>
    </p:spTree>
    <p:extLst>
      <p:ext uri="{BB962C8B-B14F-4D97-AF65-F5344CB8AC3E}">
        <p14:creationId xmlns:p14="http://schemas.microsoft.com/office/powerpoint/2010/main" val="3660402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C5210-DBB7-5865-7219-FD8485652B3E}"/>
              </a:ext>
            </a:extLst>
          </p:cNvPr>
          <p:cNvSpPr>
            <a:spLocks noGrp="1"/>
          </p:cNvSpPr>
          <p:nvPr>
            <p:ph type="title"/>
          </p:nvPr>
        </p:nvSpPr>
        <p:spPr/>
        <p:txBody>
          <a:bodyPr/>
          <a:lstStyle/>
          <a:p>
            <a:r>
              <a:rPr lang="nl-NL"/>
              <a:t>Voornemen</a:t>
            </a:r>
          </a:p>
        </p:txBody>
      </p:sp>
      <p:sp>
        <p:nvSpPr>
          <p:cNvPr id="3" name="Tijdelijke aanduiding voor inhoud 2">
            <a:extLst>
              <a:ext uri="{FF2B5EF4-FFF2-40B4-BE49-F238E27FC236}">
                <a16:creationId xmlns:a16="http://schemas.microsoft.com/office/drawing/2014/main" id="{349108FB-7606-0D2C-A38D-8279C3FCDFF9}"/>
              </a:ext>
            </a:extLst>
          </p:cNvPr>
          <p:cNvSpPr>
            <a:spLocks noGrp="1"/>
          </p:cNvSpPr>
          <p:nvPr>
            <p:ph idx="1"/>
          </p:nvPr>
        </p:nvSpPr>
        <p:spPr/>
        <p:txBody>
          <a:bodyPr/>
          <a:lstStyle/>
          <a:p>
            <a:r>
              <a:rPr lang="nl-NL"/>
              <a:t>Schrijf het beste stuk uit je brief/dagboek zo mooi mogelijk in je schrift. </a:t>
            </a:r>
          </a:p>
          <a:p>
            <a:r>
              <a:rPr lang="nl-NL"/>
              <a:t>Wat neem je mee uit deze wereld in je eigen wereld? </a:t>
            </a:r>
          </a:p>
          <a:p>
            <a:r>
              <a:rPr lang="nl-NL"/>
              <a:t>Schrijf je voornemen zo mooi mogelijk op.</a:t>
            </a:r>
          </a:p>
        </p:txBody>
      </p:sp>
    </p:spTree>
    <p:extLst>
      <p:ext uri="{BB962C8B-B14F-4D97-AF65-F5344CB8AC3E}">
        <p14:creationId xmlns:p14="http://schemas.microsoft.com/office/powerpoint/2010/main" val="691914690"/>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Hoofdvraag</a:t>
            </a:r>
          </a:p>
        </p:txBody>
      </p:sp>
      <p:sp>
        <p:nvSpPr>
          <p:cNvPr id="3" name="Content Placeholder 2"/>
          <p:cNvSpPr>
            <a:spLocks noGrp="1"/>
          </p:cNvSpPr>
          <p:nvPr>
            <p:ph idx="1"/>
          </p:nvPr>
        </p:nvSpPr>
        <p:spPr/>
        <p:txBody>
          <a:bodyPr/>
          <a:lstStyle/>
          <a:p>
            <a:pPr>
              <a:defRPr sz="2000"/>
            </a:pPr>
            <a:r>
              <a:t>Wat is volgens jou de ideale omgang met de techniek om ons heen?</a:t>
            </a:r>
          </a:p>
          <a:p>
            <a:pPr>
              <a:defRPr sz="2000"/>
            </a:pPr>
            <a:r>
              <a:t>Je bouwt je antwoord stap voor stap op door artikelen te lezen en opdrachten te maken.</a:t>
            </a:r>
          </a:p>
          <a:p>
            <a:pPr>
              <a:defRPr sz="2000"/>
            </a:pPr>
            <a:r>
              <a:t>Na elk artikel of gesprek stel je je standpunt bij of scherpt het aan.</a:t>
            </a:r>
          </a:p>
          <a:p>
            <a:pPr>
              <a:defRPr sz="2000"/>
            </a:pPr>
            <a:r>
              <a:t>Je verzamelt je aantekeningen in kladschrift en werkt kernstukken uit in je netschrift.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Leerroute</a:t>
            </a:r>
          </a:p>
        </p:txBody>
      </p:sp>
      <p:sp>
        <p:nvSpPr>
          <p:cNvPr id="3" name="Content Placeholder 2"/>
          <p:cNvSpPr>
            <a:spLocks noGrp="1"/>
          </p:cNvSpPr>
          <p:nvPr>
            <p:ph idx="1"/>
          </p:nvPr>
        </p:nvSpPr>
        <p:spPr/>
        <p:txBody>
          <a:bodyPr/>
          <a:lstStyle/>
          <a:p>
            <a:pPr>
              <a:defRPr sz="2000"/>
            </a:pPr>
            <a:r>
              <a:t>Les 1: eigen omgang met technologie en persoonlijk voornemen.</a:t>
            </a:r>
          </a:p>
          <a:p>
            <a:pPr>
              <a:defRPr sz="2000"/>
            </a:pPr>
            <a:r>
              <a:t>Les 2: sociaal-mediagebruik, artikel lezen en standpunten wegen.</a:t>
            </a:r>
          </a:p>
          <a:p>
            <a:pPr>
              <a:defRPr sz="2000"/>
            </a:pPr>
            <a:r>
              <a:t>Vervolg: extra artikelen vergelijken, beleid bespreken en advies formuleren.</a:t>
            </a:r>
          </a:p>
          <a:p>
            <a:pPr>
              <a:defRPr sz="2000"/>
            </a:pPr>
            <a:r>
              <a:t>Afsluiting: schrijven over een wereld na big tech en je eigen omgang opnieuw doordenken.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Waar Word Je Op Beoordeeld?</a:t>
            </a:r>
          </a:p>
        </p:txBody>
      </p:sp>
      <p:sp>
        <p:nvSpPr>
          <p:cNvPr id="3" name="Content Placeholder 2"/>
          <p:cNvSpPr>
            <a:spLocks noGrp="1"/>
          </p:cNvSpPr>
          <p:nvPr>
            <p:ph idx="1"/>
          </p:nvPr>
        </p:nvSpPr>
        <p:spPr/>
        <p:txBody>
          <a:bodyPr/>
          <a:lstStyle/>
          <a:p>
            <a:pPr>
              <a:defRPr sz="2000"/>
            </a:pPr>
            <a:r>
              <a:t>Je leest artikelen niet oppervlakkig, maar analyseert toon, perspectief en argumentatie.</a:t>
            </a:r>
          </a:p>
          <a:p>
            <a:pPr>
              <a:defRPr sz="2000"/>
            </a:pPr>
            <a:r>
              <a:t>Je vergelijkt visies en weegt bruikbaarheid en overtuigingskracht af.</a:t>
            </a:r>
          </a:p>
          <a:p>
            <a:pPr>
              <a:defRPr sz="2000"/>
            </a:pPr>
            <a:r>
              <a:t>Je verbindt die analyse aan je eigen gedrag, keuzes en standpunt.</a:t>
            </a:r>
          </a:p>
          <a:p>
            <a:pPr>
              <a:defRPr sz="2000"/>
            </a:pPr>
            <a:r>
              <a:t>Je werkt je inzichten zorgvuldig uit in gesprek, aantekeningen en schriftelijke producten.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Projectkompas</a:t>
            </a:r>
          </a:p>
        </p:txBody>
      </p:sp>
      <p:sp>
        <p:nvSpPr>
          <p:cNvPr id="3" name="Content Placeholder 2"/>
          <p:cNvSpPr>
            <a:spLocks noGrp="1"/>
          </p:cNvSpPr>
          <p:nvPr>
            <p:ph idx="1"/>
          </p:nvPr>
        </p:nvSpPr>
        <p:spPr/>
        <p:txBody>
          <a:bodyPr/>
          <a:lstStyle/>
          <a:p>
            <a:pPr>
              <a:defRPr sz="2000"/>
            </a:pPr>
            <a:r>
              <a:t>Hoofdvaardigheid in Magister: Diep lezen</a:t>
            </a:r>
          </a:p>
          <a:p>
            <a:pPr>
              <a:defRPr sz="2000"/>
            </a:pPr>
            <a:r>
              <a:t>Ondersteunende vaardigheden: Reflectie, Schrijven</a:t>
            </a:r>
          </a:p>
          <a:p>
            <a:pPr>
              <a:defRPr sz="2000"/>
            </a:pPr>
            <a:r>
              <a:t>In Technologie verschuift de beoordeling vooral op Diep lezen: teksten over sociale media, AI en identiteit analyseren, standpunten afwegen en die verbinden aan een persoonlijke reflectie.</a:t>
            </a:r>
          </a:p>
          <a:p>
            <a:pPr>
              <a:defRPr sz="2000"/>
            </a:pPr>
            <a:r>
              <a:t>Tijdens Technologie onderzoek je hoe technologie invloed heeft op identiteit, keuzes en gedrag. Je wordt beoordeeld op hoe goed je informatie leest en beoordeelt, en hoe bewust je daar zelf op reflecteert.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Focus van de beoordeling</a:t>
            </a:r>
          </a:p>
        </p:txBody>
      </p:sp>
      <p:sp>
        <p:nvSpPr>
          <p:cNvPr id="3" name="Content Placeholder 2"/>
          <p:cNvSpPr>
            <a:spLocks noGrp="1"/>
          </p:cNvSpPr>
          <p:nvPr>
            <p:ph idx="1"/>
          </p:nvPr>
        </p:nvSpPr>
        <p:spPr/>
        <p:txBody>
          <a:bodyPr/>
          <a:lstStyle/>
          <a:p>
            <a:pPr>
              <a:defRPr sz="2000"/>
            </a:pPr>
            <a:r>
              <a:t>Reflectie: reflecteren op eigen taalgebruik en taalontwikkeling</a:t>
            </a:r>
          </a:p>
          <a:p>
            <a:pPr>
              <a:defRPr sz="2000"/>
            </a:pPr>
            <a:r>
              <a:t>Diep lezen: rijke teksten bij inhoudelijke thema’s</a:t>
            </a:r>
          </a:p>
          <a:p>
            <a:pPr>
              <a:defRPr sz="2000"/>
            </a:pPr>
            <a:r>
              <a:t>Diep lezen: tekstsoorten en tekststructuren herkennen</a:t>
            </a:r>
          </a:p>
          <a:p>
            <a:pPr>
              <a:defRPr sz="2000"/>
            </a:pPr>
            <a:r>
              <a:t>Diep lezen: perspectief/doel/publiek/context beschrijven</a:t>
            </a:r>
          </a:p>
          <a:p>
            <a:pPr>
              <a:defRPr sz="2000"/>
            </a:pPr>
            <a:r>
              <a:t>Diep lezen: feiten/meningen/argumentatie/perspectieven vergelijken</a:t>
            </a:r>
          </a:p>
          <a:p>
            <a:pPr>
              <a:defRPr sz="2000"/>
            </a:pPr>
            <a:r>
              <a:t>Diep lezen: bruikbaarheid evalueren</a:t>
            </a:r>
          </a:p>
          <a:p>
            <a:pPr>
              <a:defRPr sz="2000"/>
            </a:pPr>
            <a:r>
              <a:t>Diep lezen: reflecteren op waarde</a:t>
            </a:r>
          </a:p>
          <a:p>
            <a:pPr>
              <a:defRPr sz="2000"/>
            </a:pPr>
            <a:r>
              <a:t>Diep lezen: inhoud en vorm van teksten</a:t>
            </a:r>
          </a:p>
          <a:p>
            <a:pPr>
              <a:defRPr sz="2000"/>
            </a:pPr>
            <a:r>
              <a:t>Schrijven: indrukken en vragen noteren</a:t>
            </a:r>
          </a:p>
          <a:p>
            <a:pPr>
              <a:defRPr sz="2000"/>
            </a:pPr>
            <a:r>
              <a:t>Schrijven: gedachten en inzichten ordenen en onderbouwen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 | Ondersteunende labels</a:t>
            </a:r>
          </a:p>
        </p:txBody>
      </p:sp>
      <p:sp>
        <p:nvSpPr>
          <p:cNvPr id="3" name="Content Placeholder 2"/>
          <p:cNvSpPr>
            <a:spLocks noGrp="1"/>
          </p:cNvSpPr>
          <p:nvPr>
            <p:ph idx="1"/>
          </p:nvPr>
        </p:nvSpPr>
        <p:spPr/>
        <p:txBody>
          <a:bodyPr/>
          <a:lstStyle/>
          <a:p>
            <a:pPr>
              <a:defRPr sz="2000"/>
            </a:pPr>
            <a:r>
              <a:t>Diep lezen: woordenschat en wereldkennis inzetten</a:t>
            </a:r>
          </a:p>
          <a:p>
            <a:pPr>
              <a:defRPr sz="2000"/>
            </a:pPr>
            <a:r>
              <a:t>Schrijven: leesbaar/verstaanbaar formuleren</a:t>
            </a:r>
          </a:p>
          <a:p>
            <a:pPr>
              <a:defRPr sz="2000"/>
            </a:pPr>
            <a:r>
              <a:t>Spreken: eigen bijdrage helder formuleren</a:t>
            </a:r>
          </a:p>
          <a:p>
            <a:pPr>
              <a:defRPr sz="2000"/>
            </a:pPr>
            <a:r>
              <a:t>Taalbewustzijn &amp; stijl: bewust worden van eigen taalgebruik</a:t>
            </a:r>
          </a:p>
          <a:p>
            <a:pPr>
              <a:defRPr sz="2000"/>
            </a:pPr>
            <a:r>
              <a:t>Taalbewustzijn &amp; stijl: reflecteren op stijlkeuzes</a:t>
            </a:r>
          </a:p>
        </p:txBody>
      </p:sp>
    </p:spTree>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25DC0A9ABEB7B4C885AB0F8BE6A0D4E" ma:contentTypeVersion="16" ma:contentTypeDescription="Een nieuw document maken." ma:contentTypeScope="" ma:versionID="6b110463e1a2aca5c75629579d65f3d8">
  <xsd:schema xmlns:xsd="http://www.w3.org/2001/XMLSchema" xmlns:xs="http://www.w3.org/2001/XMLSchema" xmlns:p="http://schemas.microsoft.com/office/2006/metadata/properties" xmlns:ns2="095c03f6-fb9d-4ecd-9197-1a252d903cbf" xmlns:ns3="023a12fa-388e-4a6f-9426-0bf5da8ae330" targetNamespace="http://schemas.microsoft.com/office/2006/metadata/properties" ma:root="true" ma:fieldsID="cfbdbe59c3556b1b87c330001dfe407d" ns2:_="" ns3:_="">
    <xsd:import namespace="095c03f6-fb9d-4ecd-9197-1a252d903cbf"/>
    <xsd:import namespace="023a12fa-388e-4a6f-9426-0bf5da8ae3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NT"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5c03f6-fb9d-4ecd-9197-1a252d903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dde8ed53-59b2-4452-b431-ba5103509b5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NT" ma:index="22" nillable="true" ma:displayName="NT" ma:format="Dropdown" ma:internalName="NT">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3a12fa-388e-4a6f-9426-0bf5da8ae330"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02d9309d-5108-4344-9775-d7cd0d91e79f}" ma:internalName="TaxCatchAll" ma:showField="CatchAllData" ma:web="023a12fa-388e-4a6f-9426-0bf5da8ae3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95c03f6-fb9d-4ecd-9197-1a252d903cbf">
      <Terms xmlns="http://schemas.microsoft.com/office/infopath/2007/PartnerControls"/>
    </lcf76f155ced4ddcb4097134ff3c332f>
    <NT xmlns="095c03f6-fb9d-4ecd-9197-1a252d903cbf" xsi:nil="true"/>
    <TaxCatchAll xmlns="023a12fa-388e-4a6f-9426-0bf5da8ae330" xsi:nil="true"/>
  </documentManagement>
</p:properties>
</file>

<file path=customXml/itemProps1.xml><?xml version="1.0" encoding="utf-8"?>
<ds:datastoreItem xmlns:ds="http://schemas.openxmlformats.org/officeDocument/2006/customXml" ds:itemID="{90D3B88A-0969-46E9-8490-004A8E10B93B}">
  <ds:schemaRefs>
    <ds:schemaRef ds:uri="http://schemas.microsoft.com/sharepoint/v3/contenttype/forms"/>
  </ds:schemaRefs>
</ds:datastoreItem>
</file>

<file path=customXml/itemProps2.xml><?xml version="1.0" encoding="utf-8"?>
<ds:datastoreItem xmlns:ds="http://schemas.openxmlformats.org/officeDocument/2006/customXml" ds:itemID="{3C9FE5A0-B009-40BD-8E1D-690C1A64C68C}">
  <ds:schemaRefs>
    <ds:schemaRef ds:uri="023a12fa-388e-4a6f-9426-0bf5da8ae330"/>
    <ds:schemaRef ds:uri="095c03f6-fb9d-4ecd-9197-1a252d903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66F4231-BD5F-4250-8911-BD3448B15781}">
  <ds:schemaRefs>
    <ds:schemaRef ds:uri="http://purl.org/dc/dcmitype/"/>
    <ds:schemaRef ds:uri="http://purl.org/dc/elements/1.1/"/>
    <ds:schemaRef ds:uri="http://schemas.microsoft.com/office/2006/documentManagement/types"/>
    <ds:schemaRef ds:uri="http://schemas.microsoft.com/office/infopath/2007/PartnerControls"/>
    <ds:schemaRef ds:uri="http://purl.org/dc/terms/"/>
    <ds:schemaRef ds:uri="095c03f6-fb9d-4ecd-9197-1a252d903cbf"/>
    <ds:schemaRef ds:uri="http://schemas.openxmlformats.org/package/2006/metadata/core-properties"/>
    <ds:schemaRef ds:uri="023a12fa-388e-4a6f-9426-0bf5da8ae330"/>
    <ds:schemaRef ds:uri="http://www.w3.org/XML/1998/namespace"/>
    <ds:schemaRef ds:uri="http://schemas.microsoft.com/office/2006/metadata/properties"/>
  </ds:schemaRefs>
</ds:datastoreItem>
</file>

<file path=docMetadata/LabelInfo.xml><?xml version="1.0" encoding="utf-8"?>
<clbl:labelList xmlns:clbl="http://schemas.microsoft.com/office/2020/mipLabelMetadata">
  <clbl:label id="{71ca1956-69ed-44dc-8d1c-09e6278660a8}" enabled="0" method="" siteId="{71ca1956-69ed-44dc-8d1c-09e6278660a8}" removed="1"/>
</clbl:labelList>
</file>

<file path=docProps/app.xml><?xml version="1.0" encoding="utf-8"?>
<Properties xmlns="http://schemas.openxmlformats.org/officeDocument/2006/extended-properties" xmlns:vt="http://schemas.openxmlformats.org/officeDocument/2006/docPropsVTypes">
  <TotalTime>1154</TotalTime>
  <Words>853</Words>
  <Application>Microsoft Macintosh PowerPoint</Application>
  <PresentationFormat>Breedbeeld</PresentationFormat>
  <Paragraphs>106</Paragraphs>
  <Slides>20</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20</vt:i4>
      </vt:variant>
    </vt:vector>
  </HeadingPairs>
  <TitlesOfParts>
    <vt:vector size="25" baseType="lpstr">
      <vt:lpstr>Aptos</vt:lpstr>
      <vt:lpstr>Aptos Display</vt:lpstr>
      <vt:lpstr>Arial</vt:lpstr>
      <vt:lpstr>Wingdings</vt:lpstr>
      <vt:lpstr>Kantoorthema</vt:lpstr>
      <vt:lpstr>Hoe verhoud jij je tot technologie?</vt:lpstr>
      <vt:lpstr>Wat gaan we doen?</vt:lpstr>
      <vt:lpstr>Intro: Magister</vt:lpstr>
      <vt:lpstr>Startopdracht</vt:lpstr>
      <vt:lpstr>Beantwoord de hoofdvraag</vt:lpstr>
      <vt:lpstr>Uitleg Diep Lezen</vt:lpstr>
      <vt:lpstr>Leesstrategieën voor diep lezen</vt:lpstr>
      <vt:lpstr>Leesstrategieën voor diep lezen</vt:lpstr>
      <vt:lpstr>   Sociale media (voorbereiding artikel 1)   </vt:lpstr>
      <vt:lpstr>Artikel 1: sociale media</vt:lpstr>
      <vt:lpstr>Lezen: we lezen dit opiniestuk samen</vt:lpstr>
      <vt:lpstr>Na het lezen: schrijf op</vt:lpstr>
      <vt:lpstr>Verder onderzoeken</vt:lpstr>
      <vt:lpstr>Tijdens het lezen</vt:lpstr>
      <vt:lpstr>Je mening bijslijpen</vt:lpstr>
      <vt:lpstr>Spreken: voorbereiden</vt:lpstr>
      <vt:lpstr>Spreken: in gesprek </vt:lpstr>
      <vt:lpstr>PowerPoint-presentatie</vt:lpstr>
      <vt:lpstr>Schrijven: Wat als er een wereld na big tech was…</vt:lpstr>
      <vt:lpstr>Voornemen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Marike van Zessen</dc:creator>
  <cp:lastModifiedBy>Frederieke Leever</cp:lastModifiedBy>
  <cp:revision>130</cp:revision>
  <dcterms:created xsi:type="dcterms:W3CDTF">2025-07-15T08:42:03Z</dcterms:created>
  <dcterms:modified xsi:type="dcterms:W3CDTF">2025-10-26T09:44:37Z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0x010100F25DC0A9ABEB7B4C885AB0F8BE6A0D4E</vt:lpwstr>
  </property>
  <property fmtid="{D5CDD505-2E9C-101B-9397-08002B2CF9AE}" pid="3" name="MediaServiceImageTags">
    <vt:lpwstr/>
  </property>
</Properties>
</file>